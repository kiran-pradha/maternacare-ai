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-457200"/>
            <a:ext cx="7315200" cy="7315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3A2A30">
                <a:alpha val="35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5367528" y="868680"/>
            <a:ext cx="1280160" cy="1280160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346" y="1009498"/>
            <a:ext cx="998525" cy="9985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14400" y="228600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C3B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MaternaCare AI</a:t>
            </a:r>
            <a:endParaRPr lang="en-US" sz="4400" dirty="0"/>
          </a:p>
        </p:txBody>
      </p:sp>
      <p:sp>
        <p:nvSpPr>
          <p:cNvPr id="8" name="Text 3"/>
          <p:cNvSpPr/>
          <p:nvPr/>
        </p:nvSpPr>
        <p:spPr>
          <a:xfrm>
            <a:off x="1097280" y="3035808"/>
            <a:ext cx="9994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C73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Hybrid, Explainable, Longitudinal Decision-Support System for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9C73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Health Risk in Low-Resource Settings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188720" y="3767328"/>
            <a:ext cx="9811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7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ZEROTH REVIEW PRESENTATION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188720" y="4279392"/>
            <a:ext cx="9811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 </a:t>
            </a:r>
            <a:pPr algn="ctr" indent="0" marL="0">
              <a:buNone/>
            </a:pPr>
            <a:r>
              <a:rPr lang="en-US" sz="14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1 Name] ([Roll No])  •  [Member 2 Name] ([Roll No])  •  [Member 3 Name] ([Roll No])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188720" y="4590288"/>
            <a:ext cx="9811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Guide: </a:t>
            </a:r>
            <a:pPr algn="ctr" indent="0" marL="0">
              <a:buNone/>
            </a:pPr>
            <a:r>
              <a:rPr lang="en-US" sz="14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[Guide Name]</a:t>
            </a:r>
            <a:pPr algn="ctr" indent="0" marL="0">
              <a:buNone/>
            </a:pPr>
            <a:r>
              <a:rPr lang="en-US" sz="1400" b="1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Department: </a:t>
            </a:r>
            <a:pPr algn="ctr" indent="0" marL="0">
              <a:buNone/>
            </a:pPr>
            <a:r>
              <a:rPr lang="en-US" sz="14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 Name]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188720" y="4901184"/>
            <a:ext cx="9811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C73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[College Name]   |   Date: [DD/MM/YYYY]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7315200" y="5321808"/>
            <a:ext cx="3657600" cy="914400"/>
          </a:xfrm>
          <a:prstGeom prst="rect">
            <a:avLst/>
          </a:prstGeom>
          <a:solidFill>
            <a:srgbClr val="FBE1EB"/>
          </a:solidFill>
          <a:ln w="12700">
            <a:solidFill>
              <a:srgbClr val="D9799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49808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Signature: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498080" y="5897880"/>
            <a:ext cx="3291840" cy="0"/>
          </a:xfrm>
          <a:prstGeom prst="line">
            <a:avLst/>
          </a:prstGeom>
          <a:noFill/>
          <a:ln w="9525">
            <a:solidFill>
              <a:srgbClr val="9C738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498080" y="5989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73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1188720" y="301752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37" y="525597"/>
            <a:ext cx="484998" cy="4849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11480"/>
            <a:ext cx="10332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C3B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11475720" y="594360"/>
            <a:ext cx="320040" cy="320040"/>
          </a:xfrm>
          <a:prstGeom prst="ellipse">
            <a:avLst/>
          </a:prstGeom>
          <a:solidFill>
            <a:srgbClr val="FBE1EB"/>
          </a:solidFill>
          <a:ln/>
        </p:spPr>
      </p:sp>
      <p:sp>
        <p:nvSpPr>
          <p:cNvPr id="7" name="Shape 3"/>
          <p:cNvSpPr/>
          <p:nvPr/>
        </p:nvSpPr>
        <p:spPr>
          <a:xfrm>
            <a:off x="548640" y="1417320"/>
            <a:ext cx="6949440" cy="2331720"/>
          </a:xfrm>
          <a:prstGeom prst="roundRect">
            <a:avLst>
              <a:gd name="adj" fmla="val 3137"/>
            </a:avLst>
          </a:prstGeom>
          <a:solidFill>
            <a:srgbClr val="FBE1EB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1600200"/>
            <a:ext cx="6355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mortality remains a serious public health challenge, especially where timely clinical intervention is unavailable. Frontline health workers (e.g., ASHA workers) often see a patient only once or twice during pregnancy, with no doctor present, and must decide on the spot whether a case needs urgent referral.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548640" y="3977640"/>
            <a:ext cx="640080" cy="640080"/>
          </a:xfrm>
          <a:prstGeom prst="ellipse">
            <a:avLst/>
          </a:prstGeom>
          <a:solidFill>
            <a:srgbClr val="D9799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4048049"/>
            <a:ext cx="499262" cy="4992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97764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MaternaCare AI is a hybrid, explainable, decision-support system designed to help these frontline workers act on maternal risk in real time — not just predict it.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818120" y="141732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BE1EB"/>
          </a:solidFill>
          <a:ln/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8046720" y="1764792"/>
            <a:ext cx="731520" cy="731520"/>
          </a:xfrm>
          <a:prstGeom prst="ellipse">
            <a:avLst/>
          </a:prstGeom>
          <a:solidFill>
            <a:srgbClr val="D9799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187" y="1845259"/>
            <a:ext cx="570586" cy="57058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1540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AI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8915400" y="203911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73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GA-optimized ML models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818120" y="310896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9C3B63"/>
          </a:solidFill>
          <a:ln/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046720" y="3456432"/>
            <a:ext cx="731520" cy="731520"/>
          </a:xfrm>
          <a:prstGeom prst="ellipse">
            <a:avLst/>
          </a:prstGeom>
          <a:solidFill>
            <a:srgbClr val="D9799E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187" y="3536899"/>
            <a:ext cx="570586" cy="57058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1540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</a:t>
            </a:r>
            <a:endParaRPr lang="en-US" sz="1650" dirty="0"/>
          </a:p>
        </p:txBody>
      </p:sp>
      <p:sp>
        <p:nvSpPr>
          <p:cNvPr id="21" name="Text 14"/>
          <p:cNvSpPr/>
          <p:nvPr/>
        </p:nvSpPr>
        <p:spPr>
          <a:xfrm>
            <a:off x="8915400" y="37307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risk across visits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7818120" y="48006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BE1EB"/>
          </a:solidFill>
          <a:ln/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046720" y="5148072"/>
            <a:ext cx="731520" cy="731520"/>
          </a:xfrm>
          <a:prstGeom prst="ellipse">
            <a:avLst/>
          </a:prstGeom>
          <a:solidFill>
            <a:srgbClr val="D9799E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187" y="5228539"/>
            <a:ext cx="570586" cy="57058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1540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</a:t>
            </a:r>
            <a:endParaRPr lang="en-US" sz="1650" dirty="0"/>
          </a:p>
        </p:txBody>
      </p:sp>
      <p:sp>
        <p:nvSpPr>
          <p:cNvPr id="26" name="Text 18"/>
          <p:cNvSpPr/>
          <p:nvPr/>
        </p:nvSpPr>
        <p:spPr>
          <a:xfrm>
            <a:off x="8915400" y="542239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73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SHAP-based justification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37" y="525597"/>
            <a:ext cx="484998" cy="484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11480"/>
            <a:ext cx="10332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C3B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1475720" y="594360"/>
            <a:ext cx="320040" cy="320040"/>
          </a:xfrm>
          <a:prstGeom prst="ellipse">
            <a:avLst/>
          </a:prstGeom>
          <a:solidFill>
            <a:srgbClr val="FBE1EB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E1EB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581912"/>
            <a:ext cx="713232" cy="713232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264" y="1660368"/>
            <a:ext cx="556321" cy="5563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1490472"/>
            <a:ext cx="9738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Pregnancy-related complications remain a leading cause of maternal and neonatal mortality where timely intervention is unavailable.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E1EB"/>
          </a:solidFill>
          <a:ln/>
        </p:spPr>
      </p:sp>
      <p:sp>
        <p:nvSpPr>
          <p:cNvPr id="11" name="Shape 7"/>
          <p:cNvSpPr/>
          <p:nvPr/>
        </p:nvSpPr>
        <p:spPr>
          <a:xfrm>
            <a:off x="749808" y="2816352"/>
            <a:ext cx="713232" cy="713232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64" y="2894808"/>
            <a:ext cx="556321" cy="5563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2724912"/>
            <a:ext cx="9738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ML models predict risk from a single reading — they do not track how a patient's condition changes across visits or pregnancy stages.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E1EB"/>
          </a:solidFill>
          <a:ln/>
        </p:spPr>
      </p:sp>
      <p:sp>
        <p:nvSpPr>
          <p:cNvPr id="15" name="Shape 10"/>
          <p:cNvSpPr/>
          <p:nvPr/>
        </p:nvSpPr>
        <p:spPr>
          <a:xfrm>
            <a:off x="749808" y="4050792"/>
            <a:ext cx="713232" cy="713232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264" y="4129248"/>
            <a:ext cx="556321" cy="5563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91640" y="3959352"/>
            <a:ext cx="9738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Iron-deficiency anemia is a major, under-screened risk factor in rural pregnant populations, rarely integrated into risk-assessment systems.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E1EB"/>
          </a:solidFill>
          <a:ln/>
        </p:spPr>
      </p:sp>
      <p:sp>
        <p:nvSpPr>
          <p:cNvPr id="19" name="Shape 13"/>
          <p:cNvSpPr/>
          <p:nvPr/>
        </p:nvSpPr>
        <p:spPr>
          <a:xfrm>
            <a:off x="749808" y="5285232"/>
            <a:ext cx="713232" cy="713232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264" y="5363688"/>
            <a:ext cx="556321" cy="5563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91640" y="5193792"/>
            <a:ext cx="9738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risk scores are hard for non-specialist health workers to trust, understand, or explain to patients — limiting real-world adoption.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37" y="525597"/>
            <a:ext cx="484998" cy="484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11480"/>
            <a:ext cx="10332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C3B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1475720" y="594360"/>
            <a:ext cx="320040" cy="320040"/>
          </a:xfrm>
          <a:prstGeom prst="ellipse">
            <a:avLst/>
          </a:prstGeom>
          <a:solidFill>
            <a:srgbClr val="FBE1EB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4173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BE1EB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9C3B6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17320" y="15087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Trimester-wise risk classification instead of one generic score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72200" y="14173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BE1EB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080" y="1600200"/>
            <a:ext cx="502920" cy="502920"/>
          </a:xfrm>
          <a:prstGeom prst="ellipse">
            <a:avLst/>
          </a:prstGeom>
          <a:solidFill>
            <a:srgbClr val="9C3B63"/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040880" y="15087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 Algorithm-optimized classifier (GA + Random Forest/XGBoost) as the core hybrid technique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2834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BE1EB"/>
          </a:solidFill>
          <a:ln/>
        </p:spPr>
      </p:sp>
      <p:sp>
        <p:nvSpPr>
          <p:cNvPr id="15" name="Shape 12"/>
          <p:cNvSpPr/>
          <p:nvPr/>
        </p:nvSpPr>
        <p:spPr>
          <a:xfrm>
            <a:off x="731520" y="3017520"/>
            <a:ext cx="502920" cy="502920"/>
          </a:xfrm>
          <a:prstGeom prst="ellipse">
            <a:avLst/>
          </a:prstGeom>
          <a:solidFill>
            <a:srgbClr val="9C3B63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17320" y="29260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longitudinal patient trajectories to detect risk change over visits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172200" y="2834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BE1EB"/>
          </a:solidFill>
          <a:ln/>
        </p:spPr>
      </p:sp>
      <p:sp>
        <p:nvSpPr>
          <p:cNvPr id="19" name="Shape 16"/>
          <p:cNvSpPr/>
          <p:nvPr/>
        </p:nvSpPr>
        <p:spPr>
          <a:xfrm>
            <a:off x="6355080" y="3017520"/>
            <a:ext cx="502920" cy="502920"/>
          </a:xfrm>
          <a:prstGeom prst="ellipse">
            <a:avLst/>
          </a:prstGeom>
          <a:solidFill>
            <a:srgbClr val="9C3B63"/>
          </a:solidFill>
          <a:ln/>
        </p:spPr>
      </p:sp>
      <p:sp>
        <p:nvSpPr>
          <p:cNvPr id="20" name="Text 17"/>
          <p:cNvSpPr/>
          <p:nvPr/>
        </p:nvSpPr>
        <p:spPr>
          <a:xfrm>
            <a:off x="63550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040880" y="29260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GA + K-Means hybrid clustering for rural iron-deficiency screening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4251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BE1EB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9C3B63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17320" y="434340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SHAP-based explainability for every prediction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172200" y="4251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BE1EB"/>
          </a:solidFill>
          <a:ln/>
        </p:spPr>
      </p:sp>
      <p:sp>
        <p:nvSpPr>
          <p:cNvPr id="27" name="Shape 24"/>
          <p:cNvSpPr/>
          <p:nvPr/>
        </p:nvSpPr>
        <p:spPr>
          <a:xfrm>
            <a:off x="6355080" y="4434840"/>
            <a:ext cx="502920" cy="502920"/>
          </a:xfrm>
          <a:prstGeom prst="ellipse">
            <a:avLst/>
          </a:prstGeom>
          <a:solidFill>
            <a:srgbClr val="9C3B63"/>
          </a:solidFill>
          <a:ln/>
        </p:spPr>
      </p:sp>
      <p:sp>
        <p:nvSpPr>
          <p:cNvPr id="28" name="Text 25"/>
          <p:cNvSpPr/>
          <p:nvPr/>
        </p:nvSpPr>
        <p:spPr>
          <a:xfrm>
            <a:off x="635508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040880" y="434340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Clinically-grounded recommendation engine + low-literacy voice interface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37" y="525597"/>
            <a:ext cx="484998" cy="484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11480"/>
            <a:ext cx="10332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C3B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Methodology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1475720" y="594360"/>
            <a:ext cx="320040" cy="320040"/>
          </a:xfrm>
          <a:prstGeom prst="ellipse">
            <a:avLst/>
          </a:prstGeom>
          <a:solidFill>
            <a:srgbClr val="FBE1EB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1508760"/>
            <a:ext cx="1627632" cy="914400"/>
          </a:xfrm>
          <a:prstGeom prst="roundRect">
            <a:avLst>
              <a:gd name="adj" fmla="val 7000"/>
            </a:avLst>
          </a:prstGeom>
          <a:solidFill>
            <a:srgbClr val="9C3B63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508760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Vitals Data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130552" y="17373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331720" y="1508760"/>
            <a:ext cx="1627632" cy="914400"/>
          </a:xfrm>
          <a:prstGeom prst="roundRect">
            <a:avLst>
              <a:gd name="adj" fmla="val 7000"/>
            </a:avLst>
          </a:prstGeom>
          <a:solidFill>
            <a:srgbClr val="D9799E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331720" y="1508760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GA-Optimized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59352" y="17373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60520" y="1508760"/>
            <a:ext cx="1627632" cy="914400"/>
          </a:xfrm>
          <a:prstGeom prst="roundRect">
            <a:avLst>
              <a:gd name="adj" fmla="val 7000"/>
            </a:avLst>
          </a:prstGeom>
          <a:solidFill>
            <a:srgbClr val="9C3B63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160520" y="1508760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788152" y="17373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989320" y="1508760"/>
            <a:ext cx="1627632" cy="914400"/>
          </a:xfrm>
          <a:prstGeom prst="roundRect">
            <a:avLst>
              <a:gd name="adj" fmla="val 7000"/>
            </a:avLst>
          </a:prstGeom>
          <a:solidFill>
            <a:srgbClr val="D9799E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89320" y="1508760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616952" y="17373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818120" y="1508760"/>
            <a:ext cx="1627632" cy="914400"/>
          </a:xfrm>
          <a:prstGeom prst="roundRect">
            <a:avLst>
              <a:gd name="adj" fmla="val 7000"/>
            </a:avLst>
          </a:prstGeom>
          <a:solidFill>
            <a:srgbClr val="9C3B63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818120" y="1508760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445752" y="17373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646920" y="1508760"/>
            <a:ext cx="1627632" cy="914400"/>
          </a:xfrm>
          <a:prstGeom prst="roundRect">
            <a:avLst>
              <a:gd name="adj" fmla="val 7000"/>
            </a:avLst>
          </a:prstGeom>
          <a:solidFill>
            <a:srgbClr val="9C3B63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646920" y="1508760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Secondary Hybrid Module (Rural Iron-Deficiency Screening)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548640" y="3200400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FBE1EB"/>
          </a:solidFill>
          <a:ln w="12700">
            <a:solidFill>
              <a:srgbClr val="D9799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32004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CBC / Anemia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200400" y="340156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429000" y="3200400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FBE1EB"/>
          </a:solidFill>
          <a:ln w="12700">
            <a:solidFill>
              <a:srgbClr val="D9799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29000" y="32004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+ K-Means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080760" y="340156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309360" y="3200400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FBE1EB"/>
          </a:solidFill>
          <a:ln w="12700">
            <a:solidFill>
              <a:srgbClr val="D9799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09360" y="32004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Tier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 Guidance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4297680"/>
            <a:ext cx="11064240" cy="1691640"/>
          </a:xfrm>
          <a:prstGeom prst="rect">
            <a:avLst/>
          </a:prstGeom>
          <a:solidFill>
            <a:srgbClr val="9C3B63"/>
          </a:solidFill>
          <a:ln/>
        </p:spPr>
      </p:sp>
      <p:sp>
        <p:nvSpPr>
          <p:cNvPr id="33" name="Shape 30"/>
          <p:cNvSpPr/>
          <p:nvPr/>
        </p:nvSpPr>
        <p:spPr>
          <a:xfrm>
            <a:off x="777240" y="4462272"/>
            <a:ext cx="502920" cy="502920"/>
          </a:xfrm>
          <a:prstGeom prst="ellipse">
            <a:avLst/>
          </a:prstGeom>
          <a:solidFill>
            <a:srgbClr val="D9799E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61" y="4517593"/>
            <a:ext cx="392278" cy="39227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417320" y="44622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E1E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Makes It Hybrid?</a:t>
            </a:r>
            <a:endParaRPr lang="en-US" sz="1700" dirty="0"/>
          </a:p>
        </p:txBody>
      </p:sp>
      <p:sp>
        <p:nvSpPr>
          <p:cNvPr id="36" name="Text 32"/>
          <p:cNvSpPr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+ Random Forest/XGBoost:  </a:t>
            </a:r>
            <a:pPr indent="0" marL="0">
              <a:buNone/>
            </a:pPr>
            <a:r>
              <a:rPr lang="en-US" sz="1300" dirty="0">
                <a:solidFill>
                  <a:srgbClr val="F0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 Algorithm searches for optimal hyperparameters, replacing manual/grid tuning.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822960" y="537667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+ K-Means:  </a:t>
            </a:r>
            <a:pPr indent="0" marL="0">
              <a:buNone/>
            </a:pPr>
            <a:r>
              <a:rPr lang="en-US" sz="1300" dirty="0">
                <a:solidFill>
                  <a:srgbClr val="F0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 Algorithm finds better initial cluster centroids, improving on random-initialized K-Means (Genetic K-Means Algorithm pattern).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37" y="525597"/>
            <a:ext cx="484998" cy="484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11480"/>
            <a:ext cx="10332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C3B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1475720" y="594360"/>
            <a:ext cx="320040" cy="320040"/>
          </a:xfrm>
          <a:prstGeom prst="ellipse">
            <a:avLst/>
          </a:prstGeom>
          <a:solidFill>
            <a:srgbClr val="FBE1EB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1EB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D9799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1604772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46304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prototype: trimester-wise, trajectory-aware maternal risk classifier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48640" y="22402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D9799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238201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24028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accuracy improvement of GA-optimized model over standard-tuned baseline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548640" y="30175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1EB"/>
          </a:solidFill>
          <a:ln/>
        </p:spPr>
      </p:sp>
      <p:sp>
        <p:nvSpPr>
          <p:cNvPr id="15" name="Shape 10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D9799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159252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01752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GA + K-Means iron-deficiency screening module with supplement guidance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548640" y="37947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9" name="Shape 13"/>
          <p:cNvSpPr/>
          <p:nvPr/>
        </p:nvSpPr>
        <p:spPr>
          <a:xfrm>
            <a:off x="685800" y="3886200"/>
            <a:ext cx="457200" cy="457200"/>
          </a:xfrm>
          <a:prstGeom prst="ellipse">
            <a:avLst/>
          </a:prstGeom>
          <a:solidFill>
            <a:srgbClr val="D9799E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3936492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379476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Explainable, per-prediction SHAP justification for every risk output</a:t>
            </a:r>
            <a:endParaRPr lang="en-US" sz="1550" dirty="0"/>
          </a:p>
        </p:txBody>
      </p:sp>
      <p:sp>
        <p:nvSpPr>
          <p:cNvPr id="22" name="Shape 15"/>
          <p:cNvSpPr/>
          <p:nvPr/>
        </p:nvSpPr>
        <p:spPr>
          <a:xfrm>
            <a:off x="548640" y="45720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1EB"/>
          </a:solidFill>
          <a:ln/>
        </p:spPr>
      </p:sp>
      <p:sp>
        <p:nvSpPr>
          <p:cNvPr id="23" name="Shape 16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D9799E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" y="4713732"/>
            <a:ext cx="356616" cy="35661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71600" y="457200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Voice-accessible demo suited for low-literacy, low-connectivity frontline use</a:t>
            </a:r>
            <a:endParaRPr lang="en-US" sz="1550" dirty="0"/>
          </a:p>
        </p:txBody>
      </p:sp>
      <p:sp>
        <p:nvSpPr>
          <p:cNvPr id="26" name="Shape 18"/>
          <p:cNvSpPr/>
          <p:nvPr/>
        </p:nvSpPr>
        <p:spPr>
          <a:xfrm>
            <a:off x="548640" y="53492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7" name="Shape 19"/>
          <p:cNvSpPr/>
          <p:nvPr/>
        </p:nvSpPr>
        <p:spPr>
          <a:xfrm>
            <a:off x="685800" y="5440680"/>
            <a:ext cx="457200" cy="457200"/>
          </a:xfrm>
          <a:prstGeom prst="ellipse">
            <a:avLst/>
          </a:prstGeom>
          <a:solidFill>
            <a:srgbClr val="D9799E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" y="5490972"/>
            <a:ext cx="356616" cy="35661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71600" y="534924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methodology write-up suitable for a student/national-level conference submission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37" y="525597"/>
            <a:ext cx="484998" cy="484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11480"/>
            <a:ext cx="10332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C3B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1475720" y="594360"/>
            <a:ext cx="320040" cy="320040"/>
          </a:xfrm>
          <a:prstGeom prst="ellipse">
            <a:avLst/>
          </a:prstGeom>
          <a:solidFill>
            <a:srgbClr val="FBE1EB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46304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BE1E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20" y="1757020"/>
            <a:ext cx="463601" cy="4636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7190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40" y="2423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scikit-learn, XGBoost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89120" y="146304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BE1E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17720" y="1691640"/>
            <a:ext cx="594360" cy="594360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00" y="1757020"/>
            <a:ext cx="463601" cy="4636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9240" y="17190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17720" y="2423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DEAP (Genetic Algorithm)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0" y="146304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BE1E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58200" y="1691640"/>
            <a:ext cx="594360" cy="594360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3580" y="1757020"/>
            <a:ext cx="463601" cy="46360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89720" y="17190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458200" y="2423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333756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BE1E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77240" y="3566160"/>
            <a:ext cx="594360" cy="594360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20" y="3631540"/>
            <a:ext cx="463601" cy="46360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35935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Interface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77240" y="4297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Vosk / Whisper, gTTS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389120" y="333756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BE1E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17720" y="3566160"/>
            <a:ext cx="594360" cy="594360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100" y="3631540"/>
            <a:ext cx="463601" cy="46360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49240" y="35935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617720" y="4297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/ Flask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8229600" y="333756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BE1E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58200" y="3566160"/>
            <a:ext cx="594360" cy="594360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580" y="3631540"/>
            <a:ext cx="463601" cy="46360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189720" y="35935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458200" y="4297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/ React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37" y="525597"/>
            <a:ext cx="484998" cy="484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11480"/>
            <a:ext cx="10332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C3B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Timeline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1475720" y="594360"/>
            <a:ext cx="320040" cy="320040"/>
          </a:xfrm>
          <a:prstGeom prst="ellipse">
            <a:avLst/>
          </a:prstGeom>
          <a:solidFill>
            <a:srgbClr val="FBE1EB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423160"/>
            <a:ext cx="11064240" cy="0"/>
          </a:xfrm>
          <a:prstGeom prst="line">
            <a:avLst/>
          </a:prstGeom>
          <a:noFill/>
          <a:ln w="38100">
            <a:solidFill>
              <a:srgbClr val="D9799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276856"/>
            <a:ext cx="292608" cy="292608"/>
          </a:xfrm>
          <a:prstGeom prst="ellipse">
            <a:avLst/>
          </a:prstGeom>
          <a:solidFill>
            <a:srgbClr val="9C3B63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73736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1792" y="2743200"/>
            <a:ext cx="2066544" cy="1737360"/>
          </a:xfrm>
          <a:prstGeom prst="roundRect">
            <a:avLst>
              <a:gd name="adj" fmla="val 3158"/>
            </a:avLst>
          </a:prstGeom>
          <a:solidFill>
            <a:srgbClr val="FBE1E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862072"/>
            <a:ext cx="184708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classifier + trimester segmentation; longitudinal simulation design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21608" y="2276856"/>
            <a:ext cx="292608" cy="292608"/>
          </a:xfrm>
          <a:prstGeom prst="ellipse">
            <a:avLst/>
          </a:prstGeom>
          <a:solidFill>
            <a:srgbClr val="9C3B63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07208" y="173736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2834640" y="2743200"/>
            <a:ext cx="2066544" cy="1737360"/>
          </a:xfrm>
          <a:prstGeom prst="roundRect">
            <a:avLst>
              <a:gd name="adj" fmla="val 3158"/>
            </a:avLst>
          </a:prstGeom>
          <a:solidFill>
            <a:srgbClr val="FBE1EB"/>
          </a:solidFill>
          <a:ln/>
        </p:spPr>
      </p:sp>
      <p:sp>
        <p:nvSpPr>
          <p:cNvPr id="14" name="Text 11"/>
          <p:cNvSpPr/>
          <p:nvPr/>
        </p:nvSpPr>
        <p:spPr>
          <a:xfrm>
            <a:off x="2944368" y="2862072"/>
            <a:ext cx="184708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GA-optimization of core classifier; trajectory model; benchmark comparison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34456" y="2276856"/>
            <a:ext cx="292608" cy="292608"/>
          </a:xfrm>
          <a:prstGeom prst="ellipse">
            <a:avLst/>
          </a:prstGeom>
          <a:solidFill>
            <a:srgbClr val="9C3B63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0056" y="173736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047488" y="2743200"/>
            <a:ext cx="2066544" cy="1737360"/>
          </a:xfrm>
          <a:prstGeom prst="roundRect">
            <a:avLst>
              <a:gd name="adj" fmla="val 3158"/>
            </a:avLst>
          </a:prstGeom>
          <a:solidFill>
            <a:srgbClr val="FBE1EB"/>
          </a:solidFill>
          <a:ln/>
        </p:spPr>
      </p:sp>
      <p:sp>
        <p:nvSpPr>
          <p:cNvPr id="18" name="Text 15"/>
          <p:cNvSpPr/>
          <p:nvPr/>
        </p:nvSpPr>
        <p:spPr>
          <a:xfrm>
            <a:off x="5157216" y="2862072"/>
            <a:ext cx="184708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+ K-Means clustering module; SHAP integration; recommendation engine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47304" y="2276856"/>
            <a:ext cx="292608" cy="292608"/>
          </a:xfrm>
          <a:prstGeom prst="ellipse">
            <a:avLst/>
          </a:prstGeom>
          <a:solidFill>
            <a:srgbClr val="9C3B63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32904" y="173736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3.5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7260336" y="2743200"/>
            <a:ext cx="2066544" cy="1737360"/>
          </a:xfrm>
          <a:prstGeom prst="roundRect">
            <a:avLst>
              <a:gd name="adj" fmla="val 3158"/>
            </a:avLst>
          </a:prstGeom>
          <a:solidFill>
            <a:srgbClr val="FBE1EB"/>
          </a:solidFill>
          <a:ln/>
        </p:spPr>
      </p:sp>
      <p:sp>
        <p:nvSpPr>
          <p:cNvPr id="22" name="Text 19"/>
          <p:cNvSpPr/>
          <p:nvPr/>
        </p:nvSpPr>
        <p:spPr>
          <a:xfrm>
            <a:off x="7370064" y="2862072"/>
            <a:ext cx="184708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interface; simulated escalation workflow; full evaluation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0360152" y="2276856"/>
            <a:ext cx="292608" cy="292608"/>
          </a:xfrm>
          <a:prstGeom prst="ellipse">
            <a:avLst/>
          </a:prstGeom>
          <a:solidFill>
            <a:srgbClr val="9C3B63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45752" y="173736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9473184" y="2743200"/>
            <a:ext cx="2066544" cy="1737360"/>
          </a:xfrm>
          <a:prstGeom prst="roundRect">
            <a:avLst>
              <a:gd name="adj" fmla="val 3158"/>
            </a:avLst>
          </a:prstGeom>
          <a:solidFill>
            <a:srgbClr val="FBE1EB"/>
          </a:solidFill>
          <a:ln/>
        </p:spPr>
      </p:sp>
      <p:sp>
        <p:nvSpPr>
          <p:cNvPr id="26" name="Text 23"/>
          <p:cNvSpPr/>
          <p:nvPr/>
        </p:nvSpPr>
        <p:spPr>
          <a:xfrm>
            <a:off x="9582912" y="2862072"/>
            <a:ext cx="184708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Integration, demo polish, documentation, paper draft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37" y="525597"/>
            <a:ext cx="484998" cy="484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11480"/>
            <a:ext cx="10332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C3B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1475720" y="594360"/>
            <a:ext cx="320040" cy="320040"/>
          </a:xfrm>
          <a:prstGeom prst="ellipse">
            <a:avLst/>
          </a:prstGeom>
          <a:solidFill>
            <a:srgbClr val="FBE1EB"/>
          </a:solidFill>
          <a:ln/>
        </p:spPr>
      </p:sp>
      <p:sp>
        <p:nvSpPr>
          <p:cNvPr id="6" name="Shape 3"/>
          <p:cNvSpPr/>
          <p:nvPr/>
        </p:nvSpPr>
        <p:spPr>
          <a:xfrm>
            <a:off x="621792" y="1600200"/>
            <a:ext cx="128016" cy="128016"/>
          </a:xfrm>
          <a:prstGeom prst="ellipse">
            <a:avLst/>
          </a:prstGeom>
          <a:solidFill>
            <a:srgbClr val="D9799E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45389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Ahmed, M. — Maternal Health Risk [dataset]. UCI Machine Learning Repository, 2020.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" y="2221992"/>
            <a:ext cx="128016" cy="128016"/>
          </a:xfrm>
          <a:prstGeom prst="ellipse">
            <a:avLst/>
          </a:prstGeom>
          <a:solidFill>
            <a:srgbClr val="D9799E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07568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Health Risk Detection: Advancing Midwifery with AI — Random Forest ~88% accuracy (10-fold CV).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1792" y="2843784"/>
            <a:ext cx="128016" cy="128016"/>
          </a:xfrm>
          <a:prstGeom prst="ellipse">
            <a:avLst/>
          </a:prstGeom>
          <a:solidFill>
            <a:srgbClr val="D9799E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2697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maternal risk level using ML models — PMC, nationwide Oman maternal-mortality dataset.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21792" y="3465576"/>
            <a:ext cx="128016" cy="128016"/>
          </a:xfrm>
          <a:prstGeom prst="ellipse">
            <a:avLst/>
          </a:prstGeom>
          <a:solidFill>
            <a:srgbClr val="D9799E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31927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Krishna, K., Murty, M.N. — Genetic K-means algorithm. IEEE Trans. Systems, Man, and Cybernetics.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21792" y="4087368"/>
            <a:ext cx="128016" cy="128016"/>
          </a:xfrm>
          <a:prstGeom prst="ellipse">
            <a:avLst/>
          </a:prstGeom>
          <a:solidFill>
            <a:srgbClr val="D9799E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9410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Prediction of Heart Disease Using PCA and Hybrid GA with K-Means — arXiv:2101.00183.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21792" y="4709160"/>
            <a:ext cx="128016" cy="128016"/>
          </a:xfrm>
          <a:prstGeom prst="ellipse">
            <a:avLst/>
          </a:prstGeom>
          <a:solidFill>
            <a:srgbClr val="D9799E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456285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Kilicarslan, S. et al. — Hybrid GA + deep learning models for nutritional Anemia classification, 2020.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21792" y="5330952"/>
            <a:ext cx="128016" cy="128016"/>
          </a:xfrm>
          <a:prstGeom prst="ellipse">
            <a:avLst/>
          </a:prstGeom>
          <a:solidFill>
            <a:srgbClr val="D9799E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5184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SHAP and clinician-friendly explanations — npj Digital Medicine.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1828800"/>
            <a:ext cx="7315200" cy="7315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367528" y="1554480"/>
            <a:ext cx="1463040" cy="1463040"/>
          </a:xfrm>
          <a:prstGeom prst="ellipse">
            <a:avLst/>
          </a:prstGeom>
          <a:solidFill>
            <a:srgbClr val="9C3B63"/>
          </a:solidFill>
          <a:ln/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462" y="1715414"/>
            <a:ext cx="1141171" cy="114117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14400" y="32461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2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BE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2026-08-08T03:07:22Z</dcterms:created>
  <dcterms:modified xsi:type="dcterms:W3CDTF">2026-08-08T03:07:22Z</dcterms:modified>
</cp:coreProperties>
</file>